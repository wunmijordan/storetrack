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01000" y="-365760"/>
            <a:ext cx="4754880" cy="7498079"/>
          </a:xfrm>
          <a:prstGeom prst="roundRect">
            <a:avLst>
              <a:gd name="adj" fmla="val 8000"/>
            </a:avLst>
          </a:prstGeom>
          <a:solidFill>
            <a:srgbClr val="0B0D45"/>
          </a:solidFill>
          <a:ln>
            <a:solidFill>
              <a:srgbClr val="0B0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2880360" cy="5294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97280" cy="73152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58368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inventory to commerce—</a:t>
            </a:r>
            <a:br/>
            <a:r>
              <a:t>one connected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49039"/>
            <a:ext cx="63093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0">
                <a:solidFill>
                  <a:srgbClr val="C7C8DD"/>
                </a:solidFill>
                <a:latin typeface="Aptos"/>
              </a:defRPr>
            </a:pPr>
            <a:r>
              <a:t>A production-aware commercial management system for businesses that buy, make, stock, sell and account for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080760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PRODUCT PITCH DECK</a:t>
            </a:r>
          </a:p>
        </p:txBody>
      </p:sp>
      <p:pic>
        <p:nvPicPr>
          <p:cNvPr id="8" name="Picture 7" descr="inprofic-mark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32588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Growing operations fracture across disconnected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72768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73152" cy="274320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Stock lives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2971800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Purchases, usage, finished stock and availability drift when every team maintains a different sheet.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72768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72768"/>
            <a:ext cx="73152" cy="274320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9222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Production loses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231136"/>
            <a:ext cx="2971800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Customer demand, recipes, planned output, wastage and shortages become difficult to reconcile.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72768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72768"/>
            <a:ext cx="73152" cy="2743200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9222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Money arrives 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231136"/>
            <a:ext cx="2971800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Sales, receivables, payables, expenses and cash balances are reconstructed after the operational event.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92040"/>
            <a:ext cx="97840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000" b="1">
                <a:solidFill>
                  <a:srgbClr val="050733"/>
                </a:solidFill>
                <a:latin typeface="Aptos"/>
              </a:defRPr>
            </a:pPr>
            <a:r>
              <a:t>The cost is not another spreadsheet. It is delayed decisions, weak traceability and preventable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THE INPROFIC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One chain of truth from purchase to payment.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74519"/>
            <a:ext cx="196596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96896"/>
            <a:ext cx="1600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90672"/>
            <a:ext cx="16002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Supplier orders</a:t>
            </a:r>
            <a:br/>
            <a:r>
              <a:t>and arrivals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3472" y="2798064"/>
            <a:ext cx="38404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874519"/>
            <a:ext cx="196596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96896"/>
            <a:ext cx="1600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90672"/>
            <a:ext cx="16002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Materials and</a:t>
            </a:r>
            <a:br/>
            <a:r>
              <a:t>finished goods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19472" y="2798064"/>
            <a:ext cx="38404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1874519"/>
            <a:ext cx="196596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596896"/>
            <a:ext cx="1600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090672"/>
            <a:ext cx="16002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Plans, batches,</a:t>
            </a:r>
            <a:br/>
            <a:r>
              <a:t>QC and yield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205472" y="2798064"/>
            <a:ext cx="38404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79" y="1874519"/>
            <a:ext cx="196596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59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59" y="2596896"/>
            <a:ext cx="1600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3090672"/>
            <a:ext cx="16002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Counter, online</a:t>
            </a:r>
            <a:br/>
            <a:r>
              <a:t>and distribution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91472" y="2798064"/>
            <a:ext cx="38404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84080" y="1874519"/>
            <a:ext cx="196596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2596896"/>
            <a:ext cx="1600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3090672"/>
            <a:ext cx="16002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Cash, credit,</a:t>
            </a:r>
            <a:br/>
            <a:r>
              <a:t>expenses and margin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937760"/>
            <a:ext cx="9875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Each event updates the next layer without losing the business, customer, product or audit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WHY INPROFIC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The name carries the operating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53218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9601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D14900"/>
                </a:solidFill>
                <a:latin typeface="Aptos"/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5" y="1783080"/>
            <a:ext cx="3657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050733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5" y="2276856"/>
            <a:ext cx="36118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Know what exists and how it moves.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3218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819656"/>
            <a:ext cx="9601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D14900"/>
                </a:solidFill>
                <a:latin typeface="Aptos"/>
              </a:defRPr>
            </a:pPr>
            <a:r>
              <a:t>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83080"/>
            <a:ext cx="3657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050733"/>
                </a:solidFill>
                <a:latin typeface="Aptos"/>
              </a:defRPr>
            </a:pPr>
            <a:r>
              <a:t>Procurement +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76856"/>
            <a:ext cx="36118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Connect inputs, plans and physical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30752"/>
            <a:ext cx="53218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9601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D14900"/>
                </a:solidFill>
                <a:latin typeface="Aptos"/>
              </a:defRPr>
            </a:pPr>
            <a:r>
              <a:t>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5" y="4005072"/>
            <a:ext cx="3657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050733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5" y="4498848"/>
            <a:ext cx="36118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Follow the money created by operations.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730752"/>
            <a:ext cx="53218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4041648"/>
            <a:ext cx="9601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D1490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005072"/>
            <a:ext cx="3657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050733"/>
                </a:solidFill>
                <a:latin typeface="Aptos"/>
              </a:defRPr>
            </a:pPr>
            <a:r>
              <a:t>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498848"/>
            <a:ext cx="36118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Turn validated demand into controlled fulfilment.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BUILT FOR FIVE OPERATING REALITIES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One core, vocabulary shaped to the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1481328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BAKERY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97180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Recipes, batches, offcuts and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150876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1508760"/>
            <a:ext cx="73152" cy="1481328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RESTAURANT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297180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Recipes, preparation, table service and bulk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0876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508760"/>
            <a:ext cx="73152" cy="1481328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67128"/>
            <a:ext cx="297180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Formulas, bills of materials and controlled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74720"/>
            <a:ext cx="5285232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74720"/>
            <a:ext cx="73152" cy="1481328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94176"/>
            <a:ext cx="4828032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WHOLESALE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7"/>
            <a:ext cx="4828032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Supplier arrivals, distribution pricing and customer credit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474720"/>
            <a:ext cx="5285232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474720"/>
            <a:ext cx="73152" cy="1481328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694176"/>
            <a:ext cx="4828032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7"/>
            <a:ext cx="4828032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Stock-first purchasing and multichannel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CONTROL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Inventory and procurement speak the same unit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290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315468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Three-layer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97180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Buy by bag or carton, track the package in kg or litres, and consume recipes in grams, spoons or caps—without guessing conversions.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315468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Arrival-driven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67128"/>
            <a:ext cx="297180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Receiving a purchase updates stock, landed unit cost and supplier history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08760"/>
            <a:ext cx="34290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08760"/>
            <a:ext cx="73152" cy="3154680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Movement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67128"/>
            <a:ext cx="297180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Low-stock warnings, movement history, market stock and finished inventory remain traceable by business.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074920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4752" y="5157216"/>
            <a:ext cx="181965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RAW MATERIALS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493008" y="5084064"/>
            <a:ext cx="65836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15968" y="507492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5157216"/>
            <a:ext cx="186537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PURCHASE ARRIVAL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73952" y="5084064"/>
            <a:ext cx="65836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0" y="507492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5157216"/>
            <a:ext cx="186537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AVAILABLE STOCK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473184" y="5084064"/>
            <a:ext cx="65836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22992" y="5074920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6144" y="5157216"/>
            <a:ext cx="117957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COST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PRODUCTION-AWARE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Production keeps demand, plans and physical truth distinct.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35608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1732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Proportional recipes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417320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Material usage scales against registered batch yield using Decimal precision.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039112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13432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Shared Production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313432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Coordinate multiple normal orders, combine stock checks and retain order-level costing.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2935224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2783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09544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Completion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209544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Record gross output, wastage, saleable units, shortage, planned offcut and unexpected excess.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831335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23944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05656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Safe reconciliation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4105656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Use traceable surplus or live stock without creating a duplicate sale or production event.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4727448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20055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01768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Compensating reversal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5001768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Reverse auditable effects instead of deleting history, then edit as a new pending order.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5623559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SELL ACROSS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Commerce validates demand before it touches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481328"/>
            <a:ext cx="34290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73152" cy="1572768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Physical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297180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Immediate stock-aware selling for walk-ins and direct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81328"/>
            <a:ext cx="34290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81328"/>
            <a:ext cx="73152" cy="1572768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0078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39696"/>
            <a:ext cx="297180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Published catalogues, baskets, channel pricing, payment and saved order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481328"/>
            <a:ext cx="34290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481328"/>
            <a:ext cx="73152" cy="1572768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0078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39696"/>
            <a:ext cx="297180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Bulk minimums, customer/channel price rules, credit and planned production routes.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657600"/>
            <a:ext cx="3017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D14900"/>
                </a:solidFill>
                <a:latin typeface="Aptos"/>
              </a:defRPr>
            </a:pPr>
            <a:r>
              <a:t>PAYMENT-FIRST CHECKOUT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Validate basket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51176" y="4233672"/>
            <a:ext cx="310896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1693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Snapshot price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791456" y="4233672"/>
            <a:ext cx="310896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5721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Verify payment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31736" y="4233672"/>
            <a:ext cx="310896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9749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Create intake once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72016" y="4233672"/>
            <a:ext cx="310896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3777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1092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Accept into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66360"/>
            <a:ext cx="99669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700" b="1">
                <a:solidFill>
                  <a:srgbClr val="050733"/>
                </a:solidFill>
                <a:latin typeface="Aptos"/>
              </a:defRPr>
            </a:pPr>
            <a:r>
              <a:t>Hosted storefront • Order Now link • Headless API • Signed platform connector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FINANCE WITHOUT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The financial record follows the operational 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1874519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Cash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97180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Maintain actual money balances across cash, bank and card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1874519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Receivables &amp; payables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67128"/>
            <a:ext cx="297180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Keep customer credit and supplier obligations distinct from fulfilment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0876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08760"/>
            <a:ext cx="73152" cy="1874519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67128"/>
            <a:ext cx="297180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Capture operational spend and the corresponding payment record.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28800" y="4206240"/>
            <a:ext cx="7315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206240"/>
            <a:ext cx="2194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Financial transaction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56048" y="4206240"/>
            <a:ext cx="7315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4206240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Cash / credit state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55279" y="4206240"/>
            <a:ext cx="7315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4206240"/>
            <a:ext cx="1920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Reports &amp;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E7BD65"/>
                </a:solidFill>
                <a:latin typeface="Aptos"/>
              </a:defRPr>
            </a:pPr>
            <a:r>
              <a:t>Corrections remain compensating and auditable—not silent rewrites.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TRUST AND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Controls are part of the workflow, not an afterthought.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306324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Tenant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971800" cy="2240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Every business-owned record stays scoped to the active workspace; posted business IDs are never trusted.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306324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Role-aware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67128"/>
            <a:ext cx="2971800" cy="2240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Business Admins, configurable system roles, custom roles and per-module permissions govern visibility and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08760"/>
            <a:ext cx="73152" cy="3063240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Audit-preserving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67128"/>
            <a:ext cx="2971800" cy="2240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Creator trails, movement records, immutable price/usage snapshots and reversal states retain what actually happened.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050733"/>
                </a:solidFill>
                <a:latin typeface="Aptos"/>
              </a:defRPr>
            </a:pPr>
            <a:r>
              <a:t>Built to answer: who did what, for which business, to which stock and money record—and how was it corrected?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Operational reporting stays close to the source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1481328"/>
            <a:ext cx="34015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Inventory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40864"/>
            <a:ext cx="2880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81328"/>
            <a:ext cx="34015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828800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Procurement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340864"/>
            <a:ext cx="2880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481328"/>
            <a:ext cx="34015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1828800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Production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2340864"/>
            <a:ext cx="2880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447288"/>
            <a:ext cx="34015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794760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Sales &amp;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306824"/>
            <a:ext cx="2880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447288"/>
            <a:ext cx="34015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794760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Finance movements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306824"/>
            <a:ext cx="2880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3447288"/>
            <a:ext cx="34015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3794760"/>
            <a:ext cx="2926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CSV / XLSX / JSON backup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4306824"/>
            <a:ext cx="2880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Practical architecture, deployable without lock-in.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5840" y="1417320"/>
            <a:ext cx="1014984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1618488"/>
            <a:ext cx="1508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D14900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581912"/>
            <a:ext cx="7909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Django server-rendered workspace • public storefront • API and connector boundaries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532888"/>
            <a:ext cx="1014984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34056"/>
            <a:ext cx="1508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D14900"/>
                </a:solidFill>
                <a:latin typeface="Aptos"/>
              </a:defRPr>
            </a:pPr>
            <a:r>
              <a:t>OPERATING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697480"/>
            <a:ext cx="7909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Accounts • Inventory • Procurement • Production • Sales • Expenses • Commerce •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648456"/>
            <a:ext cx="1014984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3849624"/>
            <a:ext cx="1508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18794E"/>
                </a:solidFill>
                <a:latin typeface="Aptos"/>
              </a:defRPr>
            </a:pPr>
            <a:r>
              <a:t>DATA &amp;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813048"/>
            <a:ext cx="7909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PostgreSQL/Supabase or SQLite • Cloudflare R2 or local media • WhiteNoise static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764024"/>
            <a:ext cx="1014984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965192"/>
            <a:ext cx="1508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18794E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4928616"/>
            <a:ext cx="7909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PythonAnywhere WSGI or Render ASGI/Daphne • WebSocket notifications • health and scheduled 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97880"/>
            <a:ext cx="94183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700" b="1">
                <a:solidFill>
                  <a:srgbClr val="050733"/>
                </a:solidFill>
                <a:latin typeface="Aptos"/>
              </a:defRPr>
            </a:pPr>
            <a:r>
              <a:t>One codebase. Environment-selected infrastructure. Portable operating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SUBSCRIPTION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A modular path from first control to full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8346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STARTER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404872"/>
            <a:ext cx="685800" cy="54864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27889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0">
                <a:solidFill>
                  <a:srgbClr val="C7C8DD"/>
                </a:solidFill>
                <a:latin typeface="Aptos"/>
              </a:defRPr>
            </a:pPr>
            <a:r>
              <a:t>Core workspace and Basic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E7BD65"/>
                </a:solidFill>
                <a:latin typeface="Aptos"/>
              </a:defRPr>
            </a:pPr>
            <a:r>
              <a:t>Begin with visibility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508760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1" y="1828800"/>
            <a:ext cx="28346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5151" y="2404872"/>
            <a:ext cx="685800" cy="54864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1" y="2743200"/>
            <a:ext cx="27889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0">
                <a:solidFill>
                  <a:srgbClr val="C7C8DD"/>
                </a:solidFill>
                <a:latin typeface="Aptos"/>
              </a:defRPr>
            </a:pPr>
            <a:r>
              <a:t>Production capabilities and Full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4160520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E7BD65"/>
                </a:solidFill>
                <a:latin typeface="Aptos"/>
              </a:defRPr>
            </a:pPr>
            <a:r>
              <a:t>Control making and yield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508760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28800"/>
            <a:ext cx="28346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BUSINESS PRO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7616" y="2404872"/>
            <a:ext cx="685800" cy="54864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743200"/>
            <a:ext cx="27889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0">
                <a:solidFill>
                  <a:srgbClr val="C7C8DD"/>
                </a:solidFill>
                <a:latin typeface="Aptos"/>
              </a:defRPr>
            </a:pPr>
            <a:r>
              <a:t>All modules, including Finance and Commerce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4160520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E7BD65"/>
                </a:solidFill>
                <a:latin typeface="Aptos"/>
              </a:defRPr>
            </a:pPr>
            <a:r>
              <a:t>Run the connected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102412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30-day trial • founder-controlled pricing • monthly/yearly billing • additional service profiles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Why INPROFIC wins the operating conversation.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41732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73152" cy="150876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3677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Operational and financial truth in the same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41732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417320"/>
            <a:ext cx="73152" cy="150876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63677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07568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Production nuance without forcing every business into generic ERP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41732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417320"/>
            <a:ext cx="73152" cy="150876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63677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07568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Stock, payments and corrections retain accountable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8328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383280"/>
            <a:ext cx="73152" cy="150876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0273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ADAPTABLE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Five verticals, modular entitlements and two supported deployment paths.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1" y="338328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1" y="3383280"/>
            <a:ext cx="73152" cy="150876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360273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COMMERCE-READY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04164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Validated, payment-first demand flows safely into operations.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38328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3383280"/>
            <a:ext cx="73152" cy="150876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60273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04164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Server-rendered, approachable and designed for day-to-day teams.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1792"/>
            <a:ext cx="2331720" cy="428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508760"/>
            <a:ext cx="6858000" cy="2971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Know the stock.</a:t>
            </a:r>
            <a:br/>
            <a:r>
              <a:t>Control the work.</a:t>
            </a:r>
            <a:br/>
            <a:r>
              <a:t>Follow the money.</a:t>
            </a:r>
            <a:br/>
            <a:r>
              <a:t>Serve the customer.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4800600"/>
            <a:ext cx="1920240" cy="73152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230368"/>
            <a:ext cx="65836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E7BD65"/>
                </a:solidFill>
                <a:latin typeface="Aptos"/>
              </a:defRPr>
            </a:pPr>
            <a:r>
              <a:t>Inventory • Procurement • Production • Finance • Commerce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34440"/>
            <a:ext cx="2788920" cy="434340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057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E7BD65"/>
                </a:solidFill>
                <a:latin typeface="Aptos"/>
              </a:defRPr>
            </a:pPr>
            <a:r>
              <a:t>THE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423160"/>
            <a:ext cx="20574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Put one real business workflow through INPROFIC—from purchase or order to stock, fulfilment and finance.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4343400"/>
            <a:ext cx="20574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0">
                <a:solidFill>
                  <a:srgbClr val="C7C8DD"/>
                </a:solidFill>
                <a:latin typeface="Aptos"/>
              </a:defRPr>
            </a:pPr>
            <a:r>
              <a:t>See the connected record, not just the feature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INPROFIC Product Pitch Deck</dc:title>
  <dc:subject>Inventory, procurement, production, finance and commerce</dc:subject>
  <dc:creator>INPROFIC</dc:creator>
  <cp:keywords>INPROFIC, inventory, procurement, production, finance, commerce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